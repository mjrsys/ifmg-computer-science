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810674" y="228181"/>
            <a:ext cx="8247948" cy="507248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81019" y="5195894"/>
            <a:ext cx="1312596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140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OTIMIZAÇÕES DE DESEMPENHO: O COMPILADOR JIT E A JVM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72574" y="7187072"/>
            <a:ext cx="9058600" cy="36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3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Como o Java alcança alto desempenho em tempo de execução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6716" y="8519245"/>
            <a:ext cx="5435863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Carlos Eduardo, Samuel Henrique e João Vitor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54359" y="8237915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APRESENTADO POR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39123" y="1408379"/>
            <a:ext cx="8209754" cy="76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3"/>
              </a:lnSpc>
              <a:spcBef>
                <a:spcPct val="0"/>
              </a:spcBef>
            </a:pPr>
            <a:r>
              <a:rPr lang="en-US" sz="4994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SUMÁRIO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1471" y="3576158"/>
            <a:ext cx="2003571" cy="75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PARADIGMA CLÁSSICO VS JAVA</a:t>
            </a:r>
          </a:p>
          <a:p>
            <a:pPr algn="l">
              <a:lnSpc>
                <a:spcPts val="200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022186" y="3738722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11471" y="5242996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BYTECODE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22186" y="5242996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OTIMIZAÇÃO 1 - INLINING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11471" y="6704874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0949" y="6704874"/>
            <a:ext cx="2703940" cy="52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OTIMIZAÇÃO 2 - LOOP UNROLLING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1471" y="8251428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HOTSPOTS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1709" y="8251428"/>
            <a:ext cx="2703940" cy="52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OTIMIZAÇÃO 3 - DEAD CODE ELIMINATION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87361" y="3438636"/>
            <a:ext cx="886691" cy="8866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9682" lIns="39682" bIns="39682" rIns="39682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61833" y="3537923"/>
            <a:ext cx="737747" cy="61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5"/>
              </a:lnSpc>
            </a:pPr>
            <a:r>
              <a:rPr lang="en-US" sz="3525">
                <a:solidFill>
                  <a:srgbClr val="8B9684">
                    <a:alpha val="82745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02145" y="3438636"/>
            <a:ext cx="886691" cy="8866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9682" lIns="39682" bIns="39682" rIns="39682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076617" y="3537923"/>
            <a:ext cx="737747" cy="61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5"/>
              </a:lnSpc>
            </a:pPr>
            <a:r>
              <a:rPr lang="en-US" sz="3525">
                <a:solidFill>
                  <a:srgbClr val="8B9684">
                    <a:alpha val="82745"/>
                  </a:srgbClr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287361" y="4942909"/>
            <a:ext cx="886691" cy="88669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87361" y="5042298"/>
            <a:ext cx="886691" cy="61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sz="352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002145" y="4942909"/>
            <a:ext cx="886691" cy="8866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02145" y="5042298"/>
            <a:ext cx="886691" cy="61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sz="352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87361" y="6409931"/>
            <a:ext cx="876404" cy="87640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87361" y="6516808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002145" y="6409931"/>
            <a:ext cx="876404" cy="87640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002145" y="6516808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287361" y="7902211"/>
            <a:ext cx="876404" cy="87640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287361" y="8009087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002145" y="7902211"/>
            <a:ext cx="876404" cy="87640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002145" y="8009087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71989" y="3821334"/>
            <a:ext cx="3157784" cy="77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ANÁLISE COMPARATIVA DO CÓDIGO GERADO POR COMPILADORES JAVA E C/C++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80751" y="5319580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80751" y="6829083"/>
            <a:ext cx="2703940" cy="2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80751" y="8345422"/>
            <a:ext cx="2703940" cy="52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  <a:spcBef>
                <a:spcPct val="0"/>
              </a:spcBef>
            </a:pPr>
            <a:r>
              <a:rPr lang="en-US" sz="16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REFERÊNCIAS BIBLIOGRAFICAS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751948" y="3586905"/>
            <a:ext cx="886691" cy="88669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9682" lIns="39682" bIns="39682" rIns="39682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826420" y="3686192"/>
            <a:ext cx="737747" cy="61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5"/>
              </a:lnSpc>
            </a:pPr>
            <a:r>
              <a:rPr lang="en-US" sz="3525">
                <a:solidFill>
                  <a:srgbClr val="8B9684">
                    <a:alpha val="82745"/>
                  </a:srgbClr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751948" y="5091178"/>
            <a:ext cx="886691" cy="88669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751948" y="5190566"/>
            <a:ext cx="886691" cy="61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sz="352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751948" y="6558200"/>
            <a:ext cx="876404" cy="876404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751948" y="6665076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751948" y="8050480"/>
            <a:ext cx="876404" cy="876404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B968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3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751948" y="8157356"/>
            <a:ext cx="876404" cy="59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8B968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34475" y="1884956"/>
            <a:ext cx="9049833" cy="6572556"/>
          </a:xfrm>
          <a:custGeom>
            <a:avLst/>
            <a:gdLst/>
            <a:ahLst/>
            <a:cxnLst/>
            <a:rect r="r" b="b" t="t" l="l"/>
            <a:pathLst>
              <a:path h="6572556" w="9049833">
                <a:moveTo>
                  <a:pt x="0" y="0"/>
                </a:moveTo>
                <a:lnTo>
                  <a:pt x="9049833" y="0"/>
                </a:lnTo>
                <a:lnTo>
                  <a:pt x="9049833" y="6572556"/>
                </a:lnTo>
                <a:lnTo>
                  <a:pt x="0" y="6572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4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102479"/>
            <a:ext cx="936199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  <a:spcBef>
                <a:spcPct val="0"/>
              </a:spcBef>
            </a:pPr>
            <a:r>
              <a:rPr lang="en-US" b="true" sz="6000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PARADIGMA CLÁSSICO VS JAVA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346" y="4604634"/>
            <a:ext cx="8115300" cy="355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905" indent="-278953" lvl="1">
              <a:lnSpc>
                <a:spcPts val="315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Linguagens Compiladas (ex: C): Código → Código de Máquina (Rápido, mas preso à arquitetura).</a:t>
            </a:r>
          </a:p>
          <a:p>
            <a:pPr algn="l">
              <a:lnSpc>
                <a:spcPts val="3152"/>
              </a:lnSpc>
            </a:pPr>
          </a:p>
          <a:p>
            <a:pPr algn="l" marL="557905" indent="-278953" lvl="1">
              <a:lnSpc>
                <a:spcPts val="315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Abordagem Java: Código (.java) -&gt; Compilador (javac) -&gt; Bytecode (.class).</a:t>
            </a:r>
          </a:p>
          <a:p>
            <a:pPr algn="l">
              <a:lnSpc>
                <a:spcPts val="3152"/>
              </a:lnSpc>
            </a:pPr>
          </a:p>
          <a:p>
            <a:pPr algn="l" marL="557905" indent="-278953" lvl="1">
              <a:lnSpc>
                <a:spcPts val="3152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Vantagem: "Write Once, Run Anywhere".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90821" y="964102"/>
            <a:ext cx="5087958" cy="10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7"/>
              </a:lnSpc>
              <a:spcBef>
                <a:spcPct val="0"/>
              </a:spcBef>
            </a:pPr>
            <a:r>
              <a:rPr lang="en-US" b="true" sz="7129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BYTECODE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21687" y="2951729"/>
            <a:ext cx="3101985" cy="3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30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Código Java Original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6438" y="3726132"/>
            <a:ext cx="5838447" cy="10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309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public int </a:t>
            </a:r>
            <a:r>
              <a:rPr lang="en-US" sz="2309">
                <a:solidFill>
                  <a:srgbClr val="E6CA12"/>
                </a:solidFill>
                <a:latin typeface="Inter"/>
                <a:ea typeface="Inter"/>
                <a:cs typeface="Inter"/>
                <a:sym typeface="Inter"/>
              </a:rPr>
              <a:t>somar</a:t>
            </a:r>
            <a:r>
              <a:rPr lang="en-US" sz="230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2309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230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a, </a:t>
            </a:r>
            <a:r>
              <a:rPr lang="en-US" sz="2309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 </a:t>
            </a:r>
            <a:r>
              <a:rPr lang="en-US" sz="230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b) { </a:t>
            </a:r>
          </a:p>
          <a:p>
            <a:pPr algn="l">
              <a:lnSpc>
                <a:spcPts val="2817"/>
              </a:lnSpc>
            </a:pPr>
            <a:r>
              <a:rPr lang="en-US" sz="2309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return</a:t>
            </a:r>
            <a:r>
              <a:rPr lang="en-US" sz="230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+ b; </a:t>
            </a:r>
          </a:p>
          <a:p>
            <a:pPr algn="l">
              <a:lnSpc>
                <a:spcPts val="2817"/>
              </a:lnSpc>
            </a:pPr>
            <a:r>
              <a:rPr lang="en-US" sz="230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951729"/>
            <a:ext cx="3988801" cy="3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30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Bytecode (arquivo.class)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726132"/>
            <a:ext cx="7358704" cy="516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309" spc="55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public int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9" spc="55">
                <a:solidFill>
                  <a:srgbClr val="E6CA12"/>
                </a:solidFill>
                <a:latin typeface="Inter"/>
                <a:ea typeface="Inter"/>
                <a:cs typeface="Inter"/>
                <a:sym typeface="Inter"/>
              </a:rPr>
              <a:t>somar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(int, int); </a:t>
            </a:r>
          </a:p>
          <a:p>
            <a:pPr algn="l">
              <a:lnSpc>
                <a:spcPts val="2817"/>
              </a:lnSpc>
            </a:pP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Code: </a:t>
            </a:r>
          </a:p>
          <a:p>
            <a:pPr algn="l">
              <a:lnSpc>
                <a:spcPts val="3441"/>
              </a:lnSpc>
            </a:pP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0: </a:t>
            </a:r>
            <a:r>
              <a:rPr lang="en-US" sz="2309" spc="55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iload_1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Pega a primeira variável recebida (a) e carrega (load) no topo da pilha.</a:t>
            </a:r>
          </a:p>
          <a:p>
            <a:pPr algn="l">
              <a:lnSpc>
                <a:spcPts val="3441"/>
              </a:lnSpc>
            </a:pPr>
          </a:p>
          <a:p>
            <a:pPr algn="l">
              <a:lnSpc>
                <a:spcPts val="2817"/>
              </a:lnSpc>
            </a:pP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1: </a:t>
            </a:r>
            <a:r>
              <a:rPr lang="en-US" sz="2309" spc="55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iload_2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Pega a segunda variável recebida (b) e carrega no topo da pilha.</a:t>
            </a:r>
          </a:p>
          <a:p>
            <a:pPr algn="l">
              <a:lnSpc>
                <a:spcPts val="2817"/>
              </a:lnSpc>
            </a:pPr>
          </a:p>
          <a:p>
            <a:pPr algn="l">
              <a:lnSpc>
                <a:spcPts val="2817"/>
              </a:lnSpc>
            </a:pP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2: </a:t>
            </a:r>
            <a:r>
              <a:rPr lang="en-US" sz="2309" spc="55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iadd 3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-&gt;Executa a soma (add). A JVM pega os dois números que estão no topo da pilha, soma, e coloca o resultado de volta na pilha.</a:t>
            </a:r>
          </a:p>
          <a:p>
            <a:pPr algn="l">
              <a:lnSpc>
                <a:spcPts val="2817"/>
              </a:lnSpc>
            </a:pPr>
          </a:p>
          <a:p>
            <a:pPr algn="l">
              <a:lnSpc>
                <a:spcPts val="2817"/>
              </a:lnSpc>
            </a:pP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9" spc="55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ireturn</a:t>
            </a:r>
            <a:r>
              <a:rPr lang="en-US" sz="2309" spc="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Pega o resultado que ficou na pilha e o retorna para quem chamou a função.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3633" y="2882797"/>
            <a:ext cx="4394980" cy="4114800"/>
          </a:xfrm>
          <a:custGeom>
            <a:avLst/>
            <a:gdLst/>
            <a:ahLst/>
            <a:cxnLst/>
            <a:rect r="r" b="b" t="t" l="l"/>
            <a:pathLst>
              <a:path h="4114800" w="4394980">
                <a:moveTo>
                  <a:pt x="0" y="0"/>
                </a:moveTo>
                <a:lnTo>
                  <a:pt x="4394980" y="0"/>
                </a:lnTo>
                <a:lnTo>
                  <a:pt x="4394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6041" y="2873272"/>
            <a:ext cx="8654472" cy="35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Modo Interpretado: A JVM lê o código linha por linha na hora de rodar.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Vantagem: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programa abre na mesma hora.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Desvantagem: É como um tradutor simultâneo. Traduzir a mesma frase mil vezes cansa e deixa o processo lento.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80152"/>
            <a:ext cx="9831054" cy="5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b="true" sz="3800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 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89" y="1009650"/>
            <a:ext cx="5884338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HOTSPOTS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54157"/>
            <a:ext cx="6678138" cy="436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Regra dos 80/20: 80% do tempo do programa é gasto em apenas 20% do código.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Radar da JVM: A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máquina fica contando quantas vezes cada pedaço de código é usado.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HotSpots (Pontos Quentes): Trechos que não param de rodar.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857101" y="1984062"/>
            <a:ext cx="8578459" cy="351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public class </a:t>
            </a:r>
            <a:r>
              <a:rPr lang="en-US" sz="2580">
                <a:solidFill>
                  <a:srgbClr val="E6CA12"/>
                </a:solidFill>
                <a:latin typeface="Inter"/>
                <a:ea typeface="Inter"/>
                <a:cs typeface="Inter"/>
                <a:sym typeface="Inter"/>
              </a:rPr>
              <a:t>SistemaDeVendas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{ 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public static void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80">
                <a:solidFill>
                  <a:srgbClr val="E6CA12"/>
                </a:solidFill>
                <a:latin typeface="Inter"/>
                <a:ea typeface="Inter"/>
                <a:cs typeface="Inter"/>
                <a:sym typeface="Inter"/>
              </a:rPr>
              <a:t>main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(String[] args) {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(i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nt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i &lt;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1_000_000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i++)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{  calcularImposto(i); } } 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public static double </a:t>
            </a:r>
            <a:r>
              <a:rPr lang="en-US" sz="2580">
                <a:solidFill>
                  <a:srgbClr val="E6CA12"/>
                </a:solidFill>
                <a:latin typeface="Inter"/>
                <a:ea typeface="Inter"/>
                <a:cs typeface="Inter"/>
                <a:sym typeface="Inter"/>
              </a:rPr>
              <a:t>calcularImposto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(double valor) {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return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valor *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0.15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} 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02634" y="5143500"/>
            <a:ext cx="5776510" cy="3682525"/>
          </a:xfrm>
          <a:custGeom>
            <a:avLst/>
            <a:gdLst/>
            <a:ahLst/>
            <a:cxnLst/>
            <a:rect r="r" b="b" t="t" l="l"/>
            <a:pathLst>
              <a:path h="3682525" w="5776510">
                <a:moveTo>
                  <a:pt x="0" y="0"/>
                </a:moveTo>
                <a:lnTo>
                  <a:pt x="5776510" y="0"/>
                </a:lnTo>
                <a:lnTo>
                  <a:pt x="5776510" y="3682525"/>
                </a:lnTo>
                <a:lnTo>
                  <a:pt x="0" y="368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93270" y="1028700"/>
            <a:ext cx="4702629" cy="4114800"/>
          </a:xfrm>
          <a:custGeom>
            <a:avLst/>
            <a:gdLst/>
            <a:ahLst/>
            <a:cxnLst/>
            <a:rect r="r" b="b" t="t" l="l"/>
            <a:pathLst>
              <a:path h="4114800" w="4702629">
                <a:moveTo>
                  <a:pt x="0" y="0"/>
                </a:moveTo>
                <a:lnTo>
                  <a:pt x="4702629" y="0"/>
                </a:lnTo>
                <a:lnTo>
                  <a:pt x="47026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9889" y="1009650"/>
            <a:ext cx="5884338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SOLUÇÃO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54157"/>
            <a:ext cx="6678138" cy="436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JIT (Just-In-Time): "Compilação na hora certa".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Quando acha um HotSpot, o JIT pega aquele pedaço do Byteco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e tra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nsforma definitivamente na linguagem do processador físico.</a:t>
            </a:r>
          </a:p>
          <a:p>
            <a:pPr algn="l">
              <a:lnSpc>
                <a:spcPts val="3148"/>
              </a:lnSpc>
            </a:pPr>
          </a:p>
          <a:p>
            <a:pPr algn="l" marL="557131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programa para de interpretar e passa a voar.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59628" y="2743664"/>
            <a:ext cx="4799672" cy="4799672"/>
          </a:xfrm>
          <a:custGeom>
            <a:avLst/>
            <a:gdLst/>
            <a:ahLst/>
            <a:cxnLst/>
            <a:rect r="r" b="b" t="t" l="l"/>
            <a:pathLst>
              <a:path h="4799672" w="4799672">
                <a:moveTo>
                  <a:pt x="0" y="0"/>
                </a:moveTo>
                <a:lnTo>
                  <a:pt x="4799672" y="0"/>
                </a:lnTo>
                <a:lnTo>
                  <a:pt x="4799672" y="4799672"/>
                </a:lnTo>
                <a:lnTo>
                  <a:pt x="0" y="479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19889" y="1009650"/>
            <a:ext cx="10673147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OTIMIZAÇÃO 1 - INLINING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54157"/>
            <a:ext cx="6678138" cy="429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custo de chamar uma função é alto para o processador. O JIT copia e cola o conteúdo da função direto on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ela é u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sada.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Antes : java resultado = calcularTaxa(valor); 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Depois (Inlining):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resultado = valor *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0.05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89" y="1009650"/>
            <a:ext cx="14727165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OTIMIZAÇÃO 2 - LOOP UNROLLING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54157"/>
            <a:ext cx="9110549" cy="468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Processadores perdem tempo verificando a condição. Antes: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i &lt;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i++) {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proces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sar(i);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Depois: O JIT agrupa o trabalho de 4 em 4.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i &lt;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i+=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{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processar(i); processar(i+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); 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processar(i+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); processar(i+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);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59628" y="2743664"/>
            <a:ext cx="4799672" cy="4799672"/>
          </a:xfrm>
          <a:custGeom>
            <a:avLst/>
            <a:gdLst/>
            <a:ahLst/>
            <a:cxnLst/>
            <a:rect r="r" b="b" t="t" l="l"/>
            <a:pathLst>
              <a:path h="4799672" w="4799672">
                <a:moveTo>
                  <a:pt x="0" y="0"/>
                </a:moveTo>
                <a:lnTo>
                  <a:pt x="4799672" y="0"/>
                </a:lnTo>
                <a:lnTo>
                  <a:pt x="4799672" y="4799672"/>
                </a:lnTo>
                <a:lnTo>
                  <a:pt x="0" y="479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89" y="1009650"/>
            <a:ext cx="16041001" cy="196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OTIMIZAÇÃO 3 - DEAD CODE ELIMINATION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48684"/>
            <a:ext cx="11095279" cy="478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JIT analisa a lógica e apaga tudo aquilo que, na prática, nunca vai acontecer. O processador nem chega a ver esse código.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514"/>
              </a:lnSpc>
            </a:pPr>
            <a:r>
              <a:rPr lang="en-US" sz="28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88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Antes: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if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(a ==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{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enviarEmail(); // Isso nunca vai ser verd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ade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</a:t>
            </a:r>
          </a:p>
          <a:p>
            <a:pPr algn="l">
              <a:lnSpc>
                <a:spcPts val="3514"/>
              </a:lnSpc>
            </a:pPr>
            <a:r>
              <a:rPr lang="en-US" sz="28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88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Depois: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</a:t>
            </a:r>
            <a:r>
              <a:rPr lang="en-US" sz="2580">
                <a:solidFill>
                  <a:srgbClr val="980297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= </a:t>
            </a:r>
            <a:r>
              <a:rPr lang="en-US" sz="2580">
                <a:solidFill>
                  <a:srgbClr val="FF742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// O "if" inteiro foi deletado da memória!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59628" y="2743664"/>
            <a:ext cx="4799672" cy="4799672"/>
          </a:xfrm>
          <a:custGeom>
            <a:avLst/>
            <a:gdLst/>
            <a:ahLst/>
            <a:cxnLst/>
            <a:rect r="r" b="b" t="t" l="l"/>
            <a:pathLst>
              <a:path h="4799672" w="4799672">
                <a:moveTo>
                  <a:pt x="0" y="0"/>
                </a:moveTo>
                <a:lnTo>
                  <a:pt x="4799672" y="0"/>
                </a:lnTo>
                <a:lnTo>
                  <a:pt x="4799672" y="4799672"/>
                </a:lnTo>
                <a:lnTo>
                  <a:pt x="0" y="479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6553" y="3482894"/>
            <a:ext cx="9837613" cy="4737006"/>
          </a:xfrm>
          <a:custGeom>
            <a:avLst/>
            <a:gdLst/>
            <a:ahLst/>
            <a:cxnLst/>
            <a:rect r="r" b="b" t="t" l="l"/>
            <a:pathLst>
              <a:path h="4737006" w="9837613">
                <a:moveTo>
                  <a:pt x="0" y="0"/>
                </a:moveTo>
                <a:lnTo>
                  <a:pt x="9837614" y="0"/>
                </a:lnTo>
                <a:lnTo>
                  <a:pt x="9837614" y="4737006"/>
                </a:lnTo>
                <a:lnTo>
                  <a:pt x="0" y="473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76" t="0" r="-666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380" y="36669"/>
            <a:ext cx="18121240" cy="196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ANÁLISE COMPARATIVA DO CÓDIGO GERADO POR COMPILADORES JAVA E C/C++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8367" y="3306737"/>
            <a:ext cx="6678138" cy="507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Ambiente: Máquina dedicada com Linux Debian 5.04 Basic Shell, garantindo validade experimental.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Carga de Trabalho (TerraBM): Benchmark desenvolvido pelos autores</a:t>
            </a:r>
          </a:p>
          <a:p>
            <a:pPr algn="l">
              <a:lnSpc>
                <a:spcPts val="3148"/>
              </a:lnSpc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24 execuções em cada compilador para garantir rigor estatístico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Métrica: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Tempo de CPU em segundos (não apenas tempo decorrido)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286" y="2265392"/>
            <a:ext cx="10550581" cy="5756217"/>
          </a:xfrm>
          <a:custGeom>
            <a:avLst/>
            <a:gdLst/>
            <a:ahLst/>
            <a:cxnLst/>
            <a:rect r="r" b="b" t="t" l="l"/>
            <a:pathLst>
              <a:path h="5756217" w="10550581">
                <a:moveTo>
                  <a:pt x="0" y="0"/>
                </a:moveTo>
                <a:lnTo>
                  <a:pt x="10550581" y="0"/>
                </a:lnTo>
                <a:lnTo>
                  <a:pt x="10550581" y="5756216"/>
                </a:lnTo>
                <a:lnTo>
                  <a:pt x="0" y="5756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82" t="-2755" r="-7300" b="-23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380" y="44763"/>
            <a:ext cx="18121240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RESULTADOS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55867" y="1427265"/>
            <a:ext cx="6678138" cy="742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Recursão (Fibonacci): Java é cerca de 35% mais lento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Busca Sequencial: Java foi </a:t>
            </a:r>
            <a:r>
              <a:rPr lang="en-US" sz="2580">
                <a:solidFill>
                  <a:srgbClr val="00FF12"/>
                </a:solidFill>
                <a:latin typeface="Inter"/>
                <a:ea typeface="Inter"/>
                <a:cs typeface="Inter"/>
                <a:sym typeface="Inter"/>
              </a:rPr>
              <a:t>35%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mais rápido que C/C++.O compilador JIT identificou o hot loop e otimizou a iteração internamente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Troca de V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alores: Algoritmos com muitas trocas em memória (Bolha e Seleção) são o maior gargalo do Java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Cálculos Matemáticos: O ponto mais fraco do Java.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Multiplicação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Matrizes: Java é 25% mais lento com inteiros e </a:t>
            </a:r>
            <a:r>
              <a:rPr lang="en-US" sz="258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85%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mais lento com pontos flutuantes 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89" y="1009650"/>
            <a:ext cx="16041001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92776"/>
            <a:ext cx="11095279" cy="273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 não é apenas compilado ou interpretado, é Adaptativo.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Começa devagar (Interpretador), acha os gargalos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(HotSpo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ts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acelera ao máx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 (JIT).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Resultado: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Alta performance sem per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der a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abilidade.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76340" y="7611859"/>
            <a:ext cx="11095279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Muito obrigado!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89" y="1009650"/>
            <a:ext cx="16041001" cy="9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  <a:spcBef>
                <a:spcPct val="0"/>
              </a:spcBef>
            </a:pPr>
            <a:r>
              <a:rPr lang="en-US" b="true" sz="637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REFERÊNCIAS BIBLIOGRAFICAS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92776"/>
            <a:ext cx="11095279" cy="312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https://medium.com/@vino7tech/how-the-jit-compiler-enhances-java-performance-an-in-depth-explanation-f4b85797976e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https://www.ibm.com/docs/pt-br/sdk-java-technology/8?topic=compiler-how-jit-optimizes-code</a:t>
            </a:r>
          </a:p>
          <a:p>
            <a:pPr algn="l">
              <a:lnSpc>
                <a:spcPts val="3148"/>
              </a:lnSpc>
            </a:pPr>
          </a:p>
          <a:p>
            <a:pPr algn="l" marL="557130" indent="-278565" lvl="1">
              <a:lnSpc>
                <a:spcPts val="3148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https://homepages.dcc.ufmg.br/~mtov/pub/2010_sblp.pdf</a:t>
            </a:r>
          </a:p>
          <a:p>
            <a:pPr algn="l">
              <a:lnSpc>
                <a:spcPts val="31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38457" y="555212"/>
            <a:ext cx="2408177" cy="2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3"/>
              </a:lnSpc>
            </a:pPr>
            <a:r>
              <a:rPr lang="en-US" sz="17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DAHEIBeTM30</dc:identifier>
  <dcterms:modified xsi:type="dcterms:W3CDTF">2011-08-01T06:04:30Z</dcterms:modified>
  <cp:revision>1</cp:revision>
  <dc:title>Otimizações de Desempenho: O Compilador JIT e a JVM</dc:title>
</cp:coreProperties>
</file>